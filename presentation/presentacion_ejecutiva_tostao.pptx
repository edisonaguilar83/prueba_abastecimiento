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A7ADA8"/>
              </a:solidFill>
              <a:ln>
                <a:noFill/>
              </a:ln>
            </c:spPr>
          </c:dPt>
          <c:dPt>
            <c:idx val="2"/>
            <c:spPr>
              <a:solidFill>
                <a:srgbClr val="A7ADA8"/>
              </a:solidFill>
              <a:ln>
                <a:noFill/>
              </a:ln>
            </c:spPr>
          </c:dPt>
          <c:dPt>
            <c:idx val="3"/>
            <c:spPr>
              <a:solidFill>
                <a:srgbClr val="A7ADA8"/>
              </a:solidFill>
              <a:ln>
                <a:noFill/>
              </a:ln>
            </c:spPr>
          </c:dPt>
          <c:dPt>
            <c:idx val="4"/>
            <c:spPr>
              <a:solidFill>
                <a:srgbClr val="A06E18"/>
              </a:solidFill>
              <a:ln>
                <a:noFill/>
              </a:ln>
            </c:spPr>
          </c:dPt>
          <c:dPt>
            <c:idx val="5"/>
            <c:spPr>
              <a:solidFill>
                <a:srgbClr val="A06E18"/>
              </a:solidFill>
              <a:ln>
                <a:noFill/>
              </a:ln>
            </c:spPr>
          </c:dPt>
          <c:dPt>
            <c:idx val="6"/>
            <c:spPr>
              <a:solidFill>
                <a:srgbClr val="A06E18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1747.2</c:v>
                </c:pt>
                <c:pt idx="1">
                  <c:v>1745.1</c:v>
                </c:pt>
                <c:pt idx="2">
                  <c:v>1710.0</c:v>
                </c:pt>
                <c:pt idx="3">
                  <c:v>1728.9</c:v>
                </c:pt>
                <c:pt idx="4">
                  <c:v>2627.6</c:v>
                </c:pt>
                <c:pt idx="5">
                  <c:v>2588.7</c:v>
                </c:pt>
                <c:pt idx="6">
                  <c:v>2611.0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A6FB0"/>
              </a:solidFill>
              <a:ln>
                <a:noFill/>
              </a:ln>
            </c:spPr>
          </c:dPt>
          <c:dPt>
            <c:idx val="1"/>
            <c:spPr>
              <a:solidFill>
                <a:srgbClr val="C23B3B"/>
              </a:solidFill>
              <a:ln>
                <a:noFill/>
              </a:ln>
            </c:spPr>
          </c:dPt>
          <c:dPt>
            <c:idx val="2"/>
            <c:spPr>
              <a:solidFill>
                <a:srgbClr val="C23B3B"/>
              </a:solidFill>
              <a:ln>
                <a:noFill/>
              </a:ln>
            </c:spPr>
          </c:dPt>
          <c:dPt>
            <c:idx val="3"/>
            <c:spPr>
              <a:solidFill>
                <a:srgbClr val="C23B3B"/>
              </a:solidFill>
              <a:ln>
                <a:noFill/>
              </a:ln>
            </c:spPr>
          </c:dPt>
          <c:dPt>
            <c:idx val="4"/>
            <c:spPr>
              <a:solidFill>
                <a:srgbClr val="C23B3B"/>
              </a:solidFill>
              <a:ln>
                <a:noFill/>
              </a:ln>
            </c:spPr>
          </c:dPt>
          <c:dPt>
            <c:idx val="5"/>
            <c:spPr>
              <a:solidFill>
                <a:srgbClr val="2A6FB0"/>
              </a:solidFill>
              <a:ln>
                <a:noFill/>
              </a:ln>
            </c:spPr>
          </c:dPt>
          <c:dPt>
            <c:idx val="6"/>
            <c:spPr>
              <a:solidFill>
                <a:srgbClr val="2A6FB0"/>
              </a:solidFill>
              <a:ln>
                <a:noFill/>
              </a:ln>
            </c:spPr>
          </c:dPt>
          <c:dPt>
            <c:idx val="7"/>
            <c:spPr>
              <a:solidFill>
                <a:srgbClr val="2A6FB0"/>
              </a:solidFill>
              <a:ln>
                <a:noFill/>
              </a:ln>
            </c:spPr>
          </c:dPt>
          <c:dPt>
            <c:idx val="8"/>
            <c:spPr>
              <a:solidFill>
                <a:srgbClr val="C23B3B"/>
              </a:solidFill>
              <a:ln>
                <a:noFill/>
              </a:ln>
            </c:spPr>
          </c:dPt>
          <c:dPt>
            <c:idx val="9"/>
            <c:spPr>
              <a:solidFill>
                <a:srgbClr val="C23B3B"/>
              </a:solidFill>
              <a:ln>
                <a:noFill/>
              </a:ln>
            </c:spPr>
          </c:dPt>
          <c:dPt>
            <c:idx val="10"/>
            <c:spPr>
              <a:solidFill>
                <a:srgbClr val="C23B3B"/>
              </a:solidFill>
              <a:ln>
                <a:noFill/>
              </a:ln>
            </c:spPr>
          </c:dPt>
          <c:dPt>
            <c:idx val="11"/>
            <c:spPr>
              <a:solidFill>
                <a:srgbClr val="C23B3B"/>
              </a:solidFill>
              <a:ln>
                <a:noFill/>
              </a:ln>
            </c:spPr>
          </c:dPt>
          <c:dPt>
            <c:idx val="12"/>
            <c:spPr>
              <a:solidFill>
                <a:srgbClr val="2A6FB0"/>
              </a:solidFill>
              <a:ln>
                <a:noFill/>
              </a:ln>
            </c:spPr>
          </c:dPt>
          <c:dPt>
            <c:idx val="13"/>
            <c:spPr>
              <a:solidFill>
                <a:srgbClr val="2A6FB0"/>
              </a:solidFill>
              <a:ln>
                <a:noFill/>
              </a:ln>
            </c:spPr>
          </c:dPt>
          <c:dPt>
            <c:idx val="14"/>
            <c:spPr>
              <a:solidFill>
                <a:srgbClr val="2A6FB0"/>
              </a:solidFill>
              <a:ln>
                <a:noFill/>
              </a:ln>
            </c:spPr>
          </c:dPt>
          <c:dPt>
            <c:idx val="15"/>
            <c:spPr>
              <a:solidFill>
                <a:srgbClr val="C23B3B"/>
              </a:solidFill>
              <a:ln>
                <a:noFill/>
              </a:ln>
            </c:spPr>
          </c:dPt>
          <c:dPt>
            <c:idx val="16"/>
            <c:spPr>
              <a:solidFill>
                <a:srgbClr val="C23B3B"/>
              </a:solidFill>
              <a:ln>
                <a:noFill/>
              </a:ln>
            </c:spPr>
          </c:dPt>
          <c:dPt>
            <c:idx val="17"/>
            <c:spPr>
              <a:solidFill>
                <a:srgbClr val="C23B3B"/>
              </a:solidFill>
              <a:ln>
                <a:noFill/>
              </a:ln>
            </c:spPr>
          </c:dPt>
          <c:dPt>
            <c:idx val="18"/>
            <c:spPr>
              <a:solidFill>
                <a:srgbClr val="C23B3B"/>
              </a:solidFill>
              <a:ln>
                <a:noFill/>
              </a:ln>
            </c:spPr>
          </c:dPt>
          <c:dPt>
            <c:idx val="19"/>
            <c:spPr>
              <a:solidFill>
                <a:srgbClr val="2A6FB0"/>
              </a:solidFill>
              <a:ln>
                <a:noFill/>
              </a:ln>
            </c:spPr>
          </c:dPt>
          <c:dPt>
            <c:idx val="20"/>
            <c:spPr>
              <a:solidFill>
                <a:srgbClr val="2A6FB0"/>
              </a:solidFill>
              <a:ln>
                <a:noFill/>
              </a:ln>
            </c:spPr>
          </c:dPt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0.425</c:v>
                </c:pt>
                <c:pt idx="1">
                  <c:v>-0.13</c:v>
                </c:pt>
                <c:pt idx="2">
                  <c:v>-0.736</c:v>
                </c:pt>
                <c:pt idx="3">
                  <c:v>-0.749</c:v>
                </c:pt>
                <c:pt idx="4">
                  <c:v>-0.168</c:v>
                </c:pt>
                <c:pt idx="5">
                  <c:v>0.389</c:v>
                </c:pt>
                <c:pt idx="6">
                  <c:v>0.99</c:v>
                </c:pt>
                <c:pt idx="7">
                  <c:v>0.434</c:v>
                </c:pt>
                <c:pt idx="8">
                  <c:v>-0.128</c:v>
                </c:pt>
                <c:pt idx="9">
                  <c:v>-0.735</c:v>
                </c:pt>
                <c:pt idx="10">
                  <c:v>-0.751</c:v>
                </c:pt>
                <c:pt idx="11">
                  <c:v>-0.169</c:v>
                </c:pt>
                <c:pt idx="12">
                  <c:v>0.39</c:v>
                </c:pt>
                <c:pt idx="13">
                  <c:v>0.986</c:v>
                </c:pt>
                <c:pt idx="14">
                  <c:v>0.435</c:v>
                </c:pt>
                <c:pt idx="15">
                  <c:v>-0.129</c:v>
                </c:pt>
                <c:pt idx="16">
                  <c:v>-0.736</c:v>
                </c:pt>
                <c:pt idx="17">
                  <c:v>-0.761</c:v>
                </c:pt>
                <c:pt idx="18">
                  <c:v>-0.169</c:v>
                </c:pt>
                <c:pt idx="19">
                  <c:v>0.385</c:v>
                </c:pt>
                <c:pt idx="20">
                  <c:v>0.991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6FB0"/>
              </a:solidFill>
              <a:ln>
                <a:noFill/>
              </a:ln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49</c:v>
                </c:pt>
                <c:pt idx="1">
                  <c:v>49</c:v>
                </c:pt>
                <c:pt idx="2">
                  <c:v>42</c:v>
                </c:pt>
                <c:pt idx="3">
                  <c:v>40</c:v>
                </c:pt>
                <c:pt idx="4">
                  <c:v>43</c:v>
                </c:pt>
                <c:pt idx="5">
                  <c:v>35</c:v>
                </c:pt>
                <c:pt idx="6">
                  <c:v>37</c:v>
                </c:pt>
                <c:pt idx="7">
                  <c:v>34</c:v>
                </c:pt>
                <c:pt idx="8">
                  <c:v>38</c:v>
                </c:pt>
                <c:pt idx="9">
                  <c:v>34</c:v>
                </c:pt>
                <c:pt idx="10">
                  <c:v>33</c:v>
                </c:pt>
                <c:pt idx="11">
                  <c:v>33</c:v>
                </c:pt>
                <c:pt idx="12">
                  <c:v>34</c:v>
                </c:pt>
                <c:pt idx="13">
                  <c:v>33</c:v>
                </c:pt>
                <c:pt idx="14">
                  <c:v>32</c:v>
                </c:pt>
                <c:pt idx="15">
                  <c:v>31</c:v>
                </c:pt>
                <c:pt idx="16">
                  <c:v>28</c:v>
                </c:pt>
                <c:pt idx="17">
                  <c:v>25</c:v>
                </c:pt>
                <c:pt idx="18">
                  <c:v>19</c:v>
                </c:pt>
                <c:pt idx="19">
                  <c:v>15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14582</c:v>
                </c:pt>
                <c:pt idx="1">
                  <c:v>14252</c:v>
                </c:pt>
                <c:pt idx="2">
                  <c:v>11658</c:v>
                </c:pt>
                <c:pt idx="3">
                  <c:v>11281</c:v>
                </c:pt>
                <c:pt idx="4">
                  <c:v>10690</c:v>
                </c:pt>
                <c:pt idx="5">
                  <c:v>10367</c:v>
                </c:pt>
                <c:pt idx="6">
                  <c:v>10360</c:v>
                </c:pt>
                <c:pt idx="7">
                  <c:v>10248</c:v>
                </c:pt>
                <c:pt idx="8">
                  <c:v>10033</c:v>
                </c:pt>
                <c:pt idx="9">
                  <c:v>9918</c:v>
                </c:pt>
                <c:pt idx="10">
                  <c:v>9890</c:v>
                </c:pt>
                <c:pt idx="11">
                  <c:v>9595</c:v>
                </c:pt>
                <c:pt idx="12">
                  <c:v>9543</c:v>
                </c:pt>
                <c:pt idx="13">
                  <c:v>9410</c:v>
                </c:pt>
                <c:pt idx="14">
                  <c:v>8465</c:v>
                </c:pt>
                <c:pt idx="15">
                  <c:v>8264</c:v>
                </c:pt>
                <c:pt idx="16">
                  <c:v>7095</c:v>
                </c:pt>
                <c:pt idx="17">
                  <c:v>6773</c:v>
                </c:pt>
                <c:pt idx="18">
                  <c:v>5206</c:v>
                </c:pt>
                <c:pt idx="19">
                  <c:v>4231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850">
                <a:solidFill>
                  <a:srgbClr val="8B9399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850">
                <a:solidFill>
                  <a:srgbClr val="8B9399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2A6FB0"/>
              </a:solidFill>
              <a:ln>
                <a:noFill/>
              </a:ln>
            </c:spPr>
          </c:dPt>
          <c:dPt>
            <c:idx val="2"/>
            <c:spPr>
              <a:solidFill>
                <a:srgbClr val="A06E18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Estacional simple</c:v>
                </c:pt>
                <c:pt idx="1">
                  <c:v>Semanal directo</c:v>
                </c:pt>
                <c:pt idx="2">
                  <c:v>Diario agregado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15.962</c:v>
                </c:pt>
                <c:pt idx="1">
                  <c:v>14.739</c:v>
                </c:pt>
                <c:pt idx="2">
                  <c:v>14.454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2A6FB0"/>
              </a:solidFill>
              <a:ln>
                <a:noFill/>
              </a:ln>
            </c:spPr>
          </c:dPt>
          <c:dPt>
            <c:idx val="2"/>
            <c:spPr>
              <a:solidFill>
                <a:srgbClr val="A06E18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Estacional simple</c:v>
                </c:pt>
                <c:pt idx="1">
                  <c:v>Semanal directo</c:v>
                </c:pt>
                <c:pt idx="2">
                  <c:v>Diario agregado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12.238</c:v>
                </c:pt>
                <c:pt idx="1">
                  <c:v>11.333</c:v>
                </c:pt>
                <c:pt idx="2">
                  <c:v>11.12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2A6FB0"/>
              </a:solidFill>
              <a:ln>
                <a:noFill/>
              </a:ln>
            </c:spPr>
          </c:dPt>
          <c:dPt>
            <c:idx val="2"/>
            <c:spPr>
              <a:solidFill>
                <a:srgbClr val="A06E18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Estacional simple</c:v>
                </c:pt>
                <c:pt idx="1">
                  <c:v>Semanal directo</c:v>
                </c:pt>
                <c:pt idx="2">
                  <c:v>Diario agregado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0.13162</c:v>
                </c:pt>
                <c:pt idx="1">
                  <c:v>0.1219</c:v>
                </c:pt>
                <c:pt idx="2">
                  <c:v>0.1196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A06E18"/>
              </a:solidFill>
              <a:ln>
                <a:noFill/>
              </a:ln>
            </c:spPr>
          </c:dPt>
          <c:dPt>
            <c:idx val="2"/>
            <c:spPr>
              <a:solidFill>
                <a:srgbClr val="2A6FB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Pronóstico</c:v>
                </c:pt>
                <c:pt idx="1">
                  <c:v>Económica</c:v>
                </c:pt>
                <c:pt idx="2">
                  <c:v>P80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92.976</c:v>
                </c:pt>
                <c:pt idx="1">
                  <c:v>97.946</c:v>
                </c:pt>
                <c:pt idx="2">
                  <c:v>104.898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A06E18"/>
              </a:solidFill>
              <a:ln>
                <a:noFill/>
              </a:ln>
            </c:spPr>
          </c:dPt>
          <c:dPt>
            <c:idx val="2"/>
            <c:spPr>
              <a:solidFill>
                <a:srgbClr val="2A6FB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Pronóstico</c:v>
                </c:pt>
                <c:pt idx="1">
                  <c:v>Económica</c:v>
                </c:pt>
                <c:pt idx="2">
                  <c:v>P80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19.183405</c:v>
                </c:pt>
                <c:pt idx="1">
                  <c:v>18.14944</c:v>
                </c:pt>
                <c:pt idx="2">
                  <c:v>20.827501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A06E18"/>
              </a:solidFill>
              <a:ln>
                <a:noFill/>
              </a:ln>
            </c:spPr>
          </c:dPt>
          <c:dPt>
            <c:idx val="2"/>
            <c:spPr>
              <a:solidFill>
                <a:srgbClr val="2A6FB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Pronóstico</c:v>
                </c:pt>
                <c:pt idx="1">
                  <c:v>Económica</c:v>
                </c:pt>
                <c:pt idx="2">
                  <c:v>P80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94.0288</c:v>
                </c:pt>
                <c:pt idx="1">
                  <c:v>96.23570000000001</c:v>
                </c:pt>
                <c:pt idx="2">
                  <c:v>98.2165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ADA8"/>
              </a:solidFill>
              <a:ln>
                <a:noFill/>
              </a:ln>
            </c:spPr>
          </c:dPt>
          <c:dPt>
            <c:idx val="1"/>
            <c:spPr>
              <a:solidFill>
                <a:srgbClr val="A06E18"/>
              </a:solidFill>
              <a:ln>
                <a:noFill/>
              </a:ln>
            </c:spPr>
          </c:dPt>
          <c:dPt>
            <c:idx val="2"/>
            <c:spPr>
              <a:solidFill>
                <a:srgbClr val="2A6FB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Pronóstico</c:v>
                </c:pt>
                <c:pt idx="1">
                  <c:v>Económica</c:v>
                </c:pt>
                <c:pt idx="2">
                  <c:v>P80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5330</c:v>
                </c:pt>
                <c:pt idx="1">
                  <c:v>3360</c:v>
                </c:pt>
                <c:pt idx="2">
                  <c:v>1592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4C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900">
                <a:solidFill>
                  <a:srgbClr val="8B93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Pronóstico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A7ADA8"/>
              </a:solidFill>
              <a:ln>
                <a:noFill/>
              </a:ln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19.183405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94.0288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Económica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A06E18"/>
              </a:solidFill>
              <a:ln>
                <a:noFill/>
              </a:ln>
            </c:spPr>
          </c:marker>
          <c:xVal>
            <c:numRef>
              <c:f>Sheet1!$A$5:$A$5</c:f>
              <c:numCache>
                <c:formatCode>General</c:formatCode>
                <c:ptCount val="1"/>
                <c:pt idx="0">
                  <c:v>18.14944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96.23570000000001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P80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A6FB0"/>
              </a:solidFill>
              <a:ln>
                <a:noFill/>
              </a:ln>
            </c:spPr>
          </c:marker>
          <c:xVal>
            <c:numRef>
              <c:f>Sheet1!$A$8:$A$8</c:f>
              <c:numCache>
                <c:formatCode>General</c:formatCode>
                <c:ptCount val="1"/>
                <c:pt idx="0">
                  <c:v>20.827501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98.2165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850">
                <a:solidFill>
                  <a:srgbClr val="8B9399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3CAC5"/>
            </a:solidFill>
          </a:ln>
        </c:spPr>
        <c:txPr>
          <a:bodyPr/>
          <a:lstStyle/>
          <a:p>
            <a:pPr>
              <a:defRPr sz="850">
                <a:solidFill>
                  <a:srgbClr val="8B9399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C556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2161C"/>
                </a:solidFill>
                <a:latin typeface="Arial"/>
              </a:rPr>
              <a:t>Optimización de Abastecimiento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4C5563"/>
                </a:solidFill>
                <a:latin typeface="Arial"/>
              </a:rPr>
              <a:t>Tostao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5563"/>
                </a:solidFill>
                <a:latin typeface="Arial"/>
              </a:rPr>
              <a:t>Pronóstico, incertidumbre y optimización económica del inventario — de una predicción de demanda a una decisión de pedido, por tienda y por producto.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C5563"/>
                </a:solidFill>
                <a:latin typeface="Consolas"/>
              </a:rPr>
              <a:t>160 series tienda–producto  ·  91 días de historia  ·  20 tiendas  ·  8 productos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1 ·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4650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1226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802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3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02 / 11 · ~0.5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De una predicción de demanda a una decisión de abastecimiento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6035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A06E18"/>
                </a:solidFill>
                <a:latin typeface="Arial"/>
              </a:rPr>
              <a:t>—  </a:t>
            </a:r>
            <a:r>
              <a:rPr sz="1300" b="0">
                <a:solidFill>
                  <a:srgbClr val="4C5563"/>
                </a:solidFill>
                <a:latin typeface="Arial"/>
              </a:rPr>
              <a:t>Cada semana, 20 tiendas × 8 productos generan </a:t>
            </a:r>
            <a:r>
              <a:rPr sz="1300" b="1">
                <a:solidFill>
                  <a:srgbClr val="12161C"/>
                </a:solidFill>
                <a:latin typeface="Arial"/>
              </a:rPr>
              <a:t>160 combinaciones tienda–producto</a:t>
            </a:r>
            <a:r>
              <a:rPr sz="1300" b="0">
                <a:solidFill>
                  <a:srgbClr val="4C5563"/>
                </a:solidFill>
                <a:latin typeface="Arial"/>
              </a:rPr>
              <a:t> que requieren una decisión de pedido.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A06E18"/>
                </a:solidFill>
                <a:latin typeface="Arial"/>
              </a:rPr>
              <a:t>—  </a:t>
            </a:r>
            <a:r>
              <a:rPr sz="1300" b="0">
                <a:solidFill>
                  <a:srgbClr val="4C5563"/>
                </a:solidFill>
                <a:latin typeface="Arial"/>
              </a:rPr>
              <a:t>Pedir de más inmoviliza capital y genera costo de almacenamiento; pedir de menos genera quiebres de inventario y ventas perdidas.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A06E18"/>
                </a:solidFill>
                <a:latin typeface="Arial"/>
              </a:rPr>
              <a:t>—  </a:t>
            </a:r>
            <a:r>
              <a:rPr sz="1300" b="0">
                <a:solidFill>
                  <a:srgbClr val="4C5563"/>
                </a:solidFill>
                <a:latin typeface="Arial"/>
              </a:rPr>
              <a:t>El objetivo no es solo pronosticar cuánto se va a vender — es </a:t>
            </a:r>
            <a:r>
              <a:rPr sz="1300" b="1">
                <a:solidFill>
                  <a:srgbClr val="12161C"/>
                </a:solidFill>
                <a:latin typeface="Arial"/>
              </a:rPr>
              <a:t>decidir cuánto pedir</a:t>
            </a:r>
            <a:r>
              <a:rPr sz="1300" b="0">
                <a:solidFill>
                  <a:srgbClr val="4C5563"/>
                </a:solidFill>
                <a:latin typeface="Arial"/>
              </a:rPr>
              <a:t>, balanceando ambos riesgos con la economía real de cada SKU.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691640"/>
            <a:ext cx="49377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864" y="1819656"/>
            <a:ext cx="4645152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C5563"/>
                </a:solidFill>
                <a:latin typeface="Arial"/>
              </a:rPr>
              <a:t>El reto no es de pronóstico puro — es un problema de </a:t>
            </a:r>
            <a:r>
              <a:rPr sz="1200" b="1">
                <a:solidFill>
                  <a:srgbClr val="12161C"/>
                </a:solidFill>
                <a:latin typeface="Arial"/>
              </a:rPr>
              <a:t>decisión bajo incertidumbre</a:t>
            </a:r>
            <a:r>
              <a:rPr sz="1200" b="0">
                <a:solidFill>
                  <a:srgbClr val="4C5563"/>
                </a:solidFill>
                <a:latin typeface="Arial"/>
              </a:rPr>
              <a:t>: dos SKU con la misma demanda esperada pueden requerir pedidos distintos si su costo de faltante o de exceso es diferente.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269587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87952"/>
            <a:ext cx="2512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A06E18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Demanda histórica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45152"/>
            <a:ext cx="251299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91 días · ventas diarias por SKU–tienda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7671" y="4114800"/>
            <a:ext cx="269587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9111" y="4187952"/>
            <a:ext cx="2512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A06E18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111" y="4389120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Pronóstico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9111" y="4645152"/>
            <a:ext cx="251299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demanda esperada semana siguiente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4114800"/>
            <a:ext cx="269587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9583" y="4187952"/>
            <a:ext cx="2512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A06E18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9583" y="4389120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Incertidumbre + Economía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9583" y="4645152"/>
            <a:ext cx="251299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σ del error · margen · costo de exceso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8615" y="4114800"/>
            <a:ext cx="269587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0055" y="4187952"/>
            <a:ext cx="25129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B4F10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055" y="4389120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Orden sugerida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0055" y="4645152"/>
            <a:ext cx="251299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cuánto pedir, por tienda y producto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2 · Evidencia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1226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802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3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03 / 11 · ~1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La demanda tiene patrones predecibles — el modelo debe capturarlos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3667658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2018" y="1691640"/>
            <a:ext cx="3667658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6836" y="1691640"/>
            <a:ext cx="3667658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28800"/>
            <a:ext cx="3393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Demanda diaria promedio por día de semana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" y="2148840"/>
          <a:ext cx="3393338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" y="4754880"/>
            <a:ext cx="339333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El </a:t>
            </a:r>
            <a:r>
              <a:rPr sz="1000" b="1">
                <a:solidFill>
                  <a:srgbClr val="12161C"/>
                </a:solidFill>
                <a:latin typeface="Arial"/>
              </a:rPr>
              <a:t>fin de semana vende ~50% más</a:t>
            </a:r>
            <a:r>
              <a:rPr sz="1000" b="0">
                <a:solidFill>
                  <a:srgbClr val="4C5563"/>
                </a:solidFill>
                <a:latin typeface="Arial"/>
              </a:rPr>
              <a:t> que un día entre semana (2,609 vs. 1,733 unidades/día en promedio).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9178" y="1828800"/>
            <a:ext cx="3393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Autocorrelación de la demanda (lags 1–21 días)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399178" y="2148840"/>
          <a:ext cx="3393338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399178" y="4754880"/>
            <a:ext cx="339333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La estacionalidad semanal es casi perfecta: </a:t>
            </a:r>
            <a:r>
              <a:rPr sz="1000" b="1">
                <a:solidFill>
                  <a:srgbClr val="12161C"/>
                </a:solidFill>
                <a:latin typeface="Arial"/>
              </a:rPr>
              <a:t>ACF₇ = 0.99</a:t>
            </a:r>
            <a:r>
              <a:rPr sz="1000" b="0">
                <a:solidFill>
                  <a:srgbClr val="4C5563"/>
                </a:solidFill>
                <a:latin typeface="Arial"/>
              </a:rPr>
              <a:t>. El patrón de una semana se repite en la siguiente.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1828800"/>
            <a:ext cx="3393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Tamaño de tienda vs. demanda total (20 tiendas)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203996" y="2148840"/>
          <a:ext cx="3393338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203996" y="4754880"/>
            <a:ext cx="339333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El tamaño de tienda explica </a:t>
            </a:r>
            <a:r>
              <a:rPr sz="1000" b="1">
                <a:solidFill>
                  <a:srgbClr val="12161C"/>
                </a:solidFill>
                <a:latin typeface="Arial"/>
              </a:rPr>
              <a:t>~95% de la variación</a:t>
            </a:r>
            <a:r>
              <a:rPr sz="1000" b="0">
                <a:solidFill>
                  <a:srgbClr val="4C5563"/>
                </a:solidFill>
                <a:latin typeface="Arial"/>
              </a:rPr>
              <a:t> en demanda total (r = 0.976).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3 · Modelado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802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3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04 / 11 · ~1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2161C"/>
                </a:solidFill>
                <a:latin typeface="Arial"/>
              </a:rPr>
              <a:t>Tres alternativas, evaluadas con el mismo estándar: validación temporal (rolling-origin)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366765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728216"/>
            <a:ext cx="11430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8B9399"/>
                </a:solidFill>
                <a:latin typeface="Consolas"/>
              </a:rPr>
              <a:t>REFERENCIA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020824"/>
            <a:ext cx="33750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Estacional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331720"/>
            <a:ext cx="337505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Suma de los siete días inmediatamente anteriores. Punto de partida sin aprendizaje automático.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2018" y="1600200"/>
            <a:ext cx="366765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8322" y="1728216"/>
            <a:ext cx="1225295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8B9399"/>
                </a:solidFill>
                <a:latin typeface="Consolas"/>
              </a:rPr>
              <a:t>ALTERNATIVA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8322" y="2020824"/>
            <a:ext cx="33750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Semanal directo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8322" y="2331720"/>
            <a:ext cx="337505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Un modelo XGBoost predice directamente el total de ventas de los próximos 7 días.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600200"/>
            <a:ext cx="366765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3140" y="1728216"/>
            <a:ext cx="130759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A06E18"/>
                </a:solidFill>
                <a:latin typeface="Consolas"/>
              </a:rPr>
              <a:t>SELECCIONADO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3140" y="2020824"/>
            <a:ext cx="33750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Diario agregado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3140" y="2331720"/>
            <a:ext cx="337505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Siete modelos XGBoost, uno por cada día de la semana siguiente, sumados en el total semanal.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54680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C5563"/>
                </a:solidFill>
                <a:latin typeface="Arial"/>
              </a:rPr>
              <a:t>¿Por qué </a:t>
            </a:r>
            <a:r>
              <a:rPr sz="1050" b="1">
                <a:solidFill>
                  <a:srgbClr val="12161C"/>
                </a:solidFill>
                <a:latin typeface="Arial"/>
              </a:rPr>
              <a:t>XGBoost</a:t>
            </a:r>
            <a:r>
              <a:rPr sz="1050" b="0">
                <a:solidFill>
                  <a:srgbClr val="4C5563"/>
                </a:solidFill>
                <a:latin typeface="Arial"/>
              </a:rPr>
              <a:t>? Aprende relaciones no lineales entre calendario, tienda y producto con </a:t>
            </a:r>
            <a:r>
              <a:rPr sz="1050" b="1">
                <a:solidFill>
                  <a:srgbClr val="12161C"/>
                </a:solidFill>
                <a:latin typeface="Arial"/>
              </a:rPr>
              <a:t>un solo modelo para las 160 series a la vez</a:t>
            </a:r>
            <a:r>
              <a:rPr sz="1050" b="0">
                <a:solidFill>
                  <a:srgbClr val="4C5563"/>
                </a:solidFill>
                <a:latin typeface="Arial"/>
              </a:rPr>
              <a:t> — aprovecha mejor 91 días de historia que 160 modelos individuales o una red neuronal.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49039"/>
            <a:ext cx="5547207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877056"/>
            <a:ext cx="52545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2161C"/>
                </a:solidFill>
                <a:latin typeface="Arial"/>
              </a:rPr>
              <a:t>Variables calculadas (features) y para qué sirven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4160520"/>
            <a:ext cx="525459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1">
                <a:solidFill>
                  <a:srgbClr val="A06E18"/>
                </a:solidFill>
                <a:latin typeface="Arial"/>
              </a:rPr>
              <a:t>—  </a:t>
            </a:r>
            <a:r>
              <a:rPr sz="930" b="1">
                <a:solidFill>
                  <a:srgbClr val="12161C"/>
                </a:solidFill>
                <a:latin typeface="Arial"/>
              </a:rPr>
              <a:t>Rezagos 1/7/14/21/28 días:</a:t>
            </a:r>
            <a:r>
              <a:rPr sz="930" b="0">
                <a:solidFill>
                  <a:srgbClr val="4C5563"/>
                </a:solidFill>
                <a:latin typeface="Arial"/>
              </a:rPr>
              <a:t> venta de la misma serie N días atrás — da el nivel reciente y la estacionalidad semanal.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1">
                <a:solidFill>
                  <a:srgbClr val="A06E18"/>
                </a:solidFill>
                <a:latin typeface="Arial"/>
              </a:rPr>
              <a:t>—  </a:t>
            </a:r>
            <a:r>
              <a:rPr sz="930" b="1">
                <a:solidFill>
                  <a:srgbClr val="12161C"/>
                </a:solidFill>
                <a:latin typeface="Arial"/>
              </a:rPr>
              <a:t>Promedios móviles 7/14/28 días:</a:t>
            </a:r>
            <a:r>
              <a:rPr sz="930" b="0">
                <a:solidFill>
                  <a:srgbClr val="4C5563"/>
                </a:solidFill>
                <a:latin typeface="Arial"/>
              </a:rPr>
              <a:t> venta promedio reciente — suaviza el ruido diario.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1">
                <a:solidFill>
                  <a:srgbClr val="A06E18"/>
                </a:solidFill>
                <a:latin typeface="Arial"/>
              </a:rPr>
              <a:t>—  </a:t>
            </a:r>
            <a:r>
              <a:rPr sz="930" b="1">
                <a:solidFill>
                  <a:srgbClr val="12161C"/>
                </a:solidFill>
                <a:latin typeface="Arial"/>
              </a:rPr>
              <a:t>Desviación móvil 7/14 días:</a:t>
            </a:r>
            <a:r>
              <a:rPr sz="930" b="0">
                <a:solidFill>
                  <a:srgbClr val="4C5563"/>
                </a:solidFill>
                <a:latin typeface="Arial"/>
              </a:rPr>
              <a:t> variabilidad reciente — indica qué tan predecible es cada SKU-tienda.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1">
                <a:solidFill>
                  <a:srgbClr val="A06E18"/>
                </a:solidFill>
                <a:latin typeface="Arial"/>
              </a:rPr>
              <a:t>—  </a:t>
            </a:r>
            <a:r>
              <a:rPr sz="930" b="1">
                <a:solidFill>
                  <a:srgbClr val="12161C"/>
                </a:solidFill>
                <a:latin typeface="Arial"/>
              </a:rPr>
              <a:t>Calendario y fin de semana:</a:t>
            </a:r>
            <a:r>
              <a:rPr sz="930" b="0">
                <a:solidFill>
                  <a:srgbClr val="4C5563"/>
                </a:solidFill>
                <a:latin typeface="Arial"/>
              </a:rPr>
              <a:t> captura el patrón semanal del análisis exploratorio.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30" b="1">
                <a:solidFill>
                  <a:srgbClr val="A06E18"/>
                </a:solidFill>
                <a:latin typeface="Arial"/>
              </a:rPr>
              <a:t>—  </a:t>
            </a:r>
            <a:r>
              <a:rPr sz="930" b="1">
                <a:solidFill>
                  <a:srgbClr val="12161C"/>
                </a:solidFill>
                <a:latin typeface="Arial"/>
              </a:rPr>
              <a:t>Tienda y producto:</a:t>
            </a:r>
            <a:r>
              <a:rPr sz="930" b="0">
                <a:solidFill>
                  <a:srgbClr val="4C5563"/>
                </a:solidFill>
                <a:latin typeface="Arial"/>
              </a:rPr>
              <a:t> ciudad, tamaño, costos y margen — un solo modelo aprende las 160 series a la vez.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035040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4C5563"/>
                </a:solidFill>
                <a:latin typeface="Arial"/>
              </a:rPr>
              <a:t>Cada feature se calcula solo con días </a:t>
            </a:r>
            <a:r>
              <a:rPr sz="880" b="1">
                <a:solidFill>
                  <a:srgbClr val="12161C"/>
                </a:solidFill>
                <a:latin typeface="Arial"/>
              </a:rPr>
              <a:t>anteriores</a:t>
            </a:r>
            <a:r>
              <a:rPr sz="880" b="0">
                <a:solidFill>
                  <a:srgbClr val="4C5563"/>
                </a:solidFill>
                <a:latin typeface="Arial"/>
              </a:rPr>
              <a:t> al que se quiere predecir: el modelo nunca ve, ni de forma indirecta, el resultado del día que está pronosticando.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287" y="3749039"/>
            <a:ext cx="5547207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3591" y="3877056"/>
            <a:ext cx="52545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2161C"/>
                </a:solidFill>
                <a:latin typeface="Arial"/>
              </a:rPr>
              <a:t>Validación temporal (rolling-origin)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3591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4C5563"/>
                </a:solidFill>
                <a:latin typeface="Arial"/>
              </a:rPr>
              <a:t>18 feb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4248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4C5563"/>
                </a:solidFill>
                <a:latin typeface="Arial"/>
              </a:rPr>
              <a:t>25 feb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4905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4C5563"/>
                </a:solidFill>
                <a:latin typeface="Arial"/>
              </a:rPr>
              <a:t>03 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5562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4C5563"/>
                </a:solidFill>
                <a:latin typeface="Arial"/>
              </a:rPr>
              <a:t>10 mar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219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4C5563"/>
                </a:solidFill>
                <a:latin typeface="Arial"/>
              </a:rPr>
              <a:t>17 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6877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4C5563"/>
                </a:solidFill>
                <a:latin typeface="Arial"/>
              </a:rPr>
              <a:t>24 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7534" y="4480560"/>
            <a:ext cx="7506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6B4F10"/>
                </a:solidFill>
                <a:latin typeface="Arial"/>
              </a:rPr>
              <a:t>31 mar*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3591" y="4754880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6 orígenes de backtest (cada 7 días) entrenando solo con datos conocidos hasta esa fecha; horizonte final: 01–07 abr 2024. (*origen final)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3591" y="5349240"/>
            <a:ext cx="52545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Información que </a:t>
            </a:r>
            <a:r>
              <a:rPr sz="900" b="1">
                <a:solidFill>
                  <a:srgbClr val="12161C"/>
                </a:solidFill>
                <a:latin typeface="Arial"/>
              </a:rPr>
              <a:t>no está en los datos</a:t>
            </a:r>
            <a:r>
              <a:rPr sz="900" b="0">
                <a:solidFill>
                  <a:srgbClr val="4C5563"/>
                </a:solidFill>
                <a:latin typeface="Arial"/>
              </a:rPr>
              <a:t> y podría mejorar el pronóstico: </a:t>
            </a:r>
            <a:r>
              <a:rPr sz="900" b="1">
                <a:solidFill>
                  <a:srgbClr val="12161C"/>
                </a:solidFill>
                <a:latin typeface="Arial"/>
              </a:rPr>
              <a:t>fechas de vencimiento</a:t>
            </a:r>
            <a:r>
              <a:rPr sz="900" b="0">
                <a:solidFill>
                  <a:srgbClr val="4C5563"/>
                </a:solidFill>
                <a:latin typeface="Arial"/>
              </a:rPr>
              <a:t> (evita sobre-pedir perecederos), </a:t>
            </a:r>
            <a:r>
              <a:rPr sz="900" b="1">
                <a:solidFill>
                  <a:srgbClr val="12161C"/>
                </a:solidFill>
                <a:latin typeface="Arial"/>
              </a:rPr>
              <a:t>costo de transporte</a:t>
            </a:r>
            <a:r>
              <a:rPr sz="900" b="0">
                <a:solidFill>
                  <a:srgbClr val="4C5563"/>
                </a:solidFill>
                <a:latin typeface="Arial"/>
              </a:rPr>
              <a:t> y </a:t>
            </a:r>
            <a:r>
              <a:rPr sz="900" b="1">
                <a:solidFill>
                  <a:srgbClr val="12161C"/>
                </a:solidFill>
                <a:latin typeface="Arial"/>
              </a:rPr>
              <a:t>distancia a los centros de abastecimiento</a:t>
            </a:r>
            <a:r>
              <a:rPr sz="900" b="0">
                <a:solidFill>
                  <a:srgbClr val="4C5563"/>
                </a:solidFill>
                <a:latin typeface="Arial"/>
              </a:rPr>
              <a:t> (afinan el costo real de reponer cada tienda).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3 · Modelado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802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3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05 / 11 · ~1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2161C"/>
                </a:solidFill>
                <a:latin typeface="Arial"/>
              </a:rPr>
              <a:t>Diario agregado logra el mejor desempeño en la validación temporal y se selecciona como modelo de pronóstico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3667658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34482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RMSE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66928" y="2011679"/>
          <a:ext cx="3448202" cy="1463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262018" y="1600200"/>
            <a:ext cx="3667658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1746" y="1737360"/>
            <a:ext cx="34482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MAE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71746" y="2011679"/>
          <a:ext cx="3448202" cy="1463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66836" y="1600200"/>
            <a:ext cx="3667658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6564" y="1737360"/>
            <a:ext cx="34482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WAPE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176564" y="2011679"/>
          <a:ext cx="3448202" cy="14630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3703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C5563"/>
                </a:solidFill>
                <a:latin typeface="Consolas"/>
              </a:rPr>
              <a:t>■ Estacional simple (referencia)      ■ Semanal directo      ■ Diario agregado — seleccionado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41148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16152"/>
                <a:gridCol w="1216152"/>
                <a:gridCol w="122529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8B9399"/>
                          </a:solidFill>
                          <a:latin typeface="Consolas"/>
                        </a:rPr>
                        <a:t>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8B9399"/>
                          </a:solidFill>
                          <a:latin typeface="Consolas"/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8B9399"/>
                          </a:solidFill>
                          <a:latin typeface="Consolas"/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8B9399"/>
                          </a:solidFill>
                          <a:latin typeface="Consolas"/>
                        </a:rPr>
                        <a:t>WAPE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61C"/>
                          </a:solidFill>
                          <a:latin typeface="Arial"/>
                        </a:rPr>
                        <a:t>Estacional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61C"/>
                          </a:solidFill>
                          <a:latin typeface="Consolas"/>
                        </a:rPr>
                        <a:t>15.96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61C"/>
                          </a:solidFill>
                          <a:latin typeface="Consolas"/>
                        </a:rPr>
                        <a:t>12.24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61C"/>
                          </a:solidFill>
                          <a:latin typeface="Consolas"/>
                        </a:rPr>
                        <a:t>13.16%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61C"/>
                          </a:solidFill>
                          <a:latin typeface="Arial"/>
                        </a:rPr>
                        <a:t>Semanal directo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61C"/>
                          </a:solidFill>
                          <a:latin typeface="Consolas"/>
                        </a:rPr>
                        <a:t>14.74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61C"/>
                          </a:solidFill>
                          <a:latin typeface="Consolas"/>
                        </a:rPr>
                        <a:t>11.33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61C"/>
                          </a:solidFill>
                          <a:latin typeface="Consolas"/>
                        </a:rPr>
                        <a:t>12.19%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B4F10"/>
                          </a:solidFill>
                          <a:latin typeface="Arial"/>
                        </a:rPr>
                        <a:t>Diario agregado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B4F10"/>
                          </a:solidFill>
                          <a:latin typeface="Consolas"/>
                        </a:rPr>
                        <a:t>14.45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B4F10"/>
                          </a:solidFill>
                          <a:latin typeface="Consolas"/>
                        </a:rPr>
                        <a:t>11.12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B4F10"/>
                          </a:solidFill>
                          <a:latin typeface="Consolas"/>
                        </a:rPr>
                        <a:t>11.96%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498080" y="4114800"/>
            <a:ext cx="4236415" cy="1828800"/>
          </a:xfrm>
          <a:prstGeom prst="roundRect">
            <a:avLst>
              <a:gd name="adj" fmla="val 7000"/>
            </a:avLst>
          </a:prstGeom>
          <a:solidFill>
            <a:srgbClr val="F1E2BD"/>
          </a:solidFill>
          <a:ln w="1651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4224528"/>
            <a:ext cx="3943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6B4F10"/>
                </a:solidFill>
                <a:latin typeface="Arial"/>
              </a:rPr>
              <a:t>VS. REFERENCIA (ESTACIONAL SIMPLE)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4" y="4443984"/>
            <a:ext cx="3943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6B4F10"/>
                </a:solidFill>
                <a:latin typeface="Consolas"/>
              </a:rPr>
              <a:t>−9.4% RMSE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4" y="4901184"/>
            <a:ext cx="394380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−9.1% WAPE · −9.1% MAE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4 · Decisión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06 / 11 · ~1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El mismo pronóstico puede requerir pedidos distintos según el costo de equivocarse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5547207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52545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Política de pronóstico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039112"/>
            <a:ext cx="525459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Pide exactamente la </a:t>
            </a:r>
            <a:r>
              <a:rPr sz="1000" b="1">
                <a:solidFill>
                  <a:srgbClr val="12161C"/>
                </a:solidFill>
                <a:latin typeface="Arial"/>
              </a:rPr>
              <a:t>demanda esperada</a:t>
            </a:r>
            <a:r>
              <a:rPr sz="1000" b="0">
                <a:solidFill>
                  <a:srgbClr val="4C5563"/>
                </a:solidFill>
                <a:latin typeface="Arial"/>
              </a:rPr>
              <a:t> de la próxima semana. No distingue entre SKUs de alto margen y bajo margen: mismo pronóstico, mismo pedido.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00200"/>
            <a:ext cx="5547207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728216"/>
            <a:ext cx="52545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Política económica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039112"/>
            <a:ext cx="525459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Convierte el pronóstico en una </a:t>
            </a:r>
            <a:r>
              <a:rPr sz="1000" b="1">
                <a:solidFill>
                  <a:srgbClr val="12161C"/>
                </a:solidFill>
                <a:latin typeface="Arial"/>
              </a:rPr>
              <a:t>cantidad óptima de inventario</a:t>
            </a:r>
            <a:r>
              <a:rPr sz="1000" b="0">
                <a:solidFill>
                  <a:srgbClr val="4C5563"/>
                </a:solidFill>
                <a:latin typeface="Arial"/>
              </a:rPr>
              <a:t> considerando incertidumbre (σ), margen unitario, costo de almacenamiento y riesgo de faltante.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212378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71216"/>
            <a:ext cx="19409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Pronóstico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1940905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demanda ajustada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5577" y="2743200"/>
            <a:ext cx="212378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7017" y="2871216"/>
            <a:ext cx="19409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7017" y="3127248"/>
            <a:ext cx="1940905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incertidumbre por producto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3954" y="2743200"/>
            <a:ext cx="212378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5394" y="2871216"/>
            <a:ext cx="19409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Ratio crítico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394" y="3127248"/>
            <a:ext cx="1940905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margen vs. costo de exceso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2332" y="2743200"/>
            <a:ext cx="212378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3772" y="2871216"/>
            <a:ext cx="19409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Stock objetivo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3772" y="3127248"/>
            <a:ext cx="1940905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Q*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0709" y="2743200"/>
            <a:ext cx="212378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2149" y="2871216"/>
            <a:ext cx="19409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Orden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2149" y="3127248"/>
            <a:ext cx="1940905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C5563"/>
                </a:solidFill>
                <a:latin typeface="Arial"/>
              </a:rPr>
              <a:t>Q* − stock actual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886200"/>
            <a:ext cx="5547207" cy="493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941063"/>
            <a:ext cx="529117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B9399"/>
                </a:solidFill>
                <a:latin typeface="Consolas"/>
              </a:rPr>
              <a:t>Ratio crítico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105656"/>
            <a:ext cx="52911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161C"/>
                </a:solidFill>
                <a:latin typeface="Consolas"/>
              </a:rPr>
              <a:t>CR = Cu / (Cu + Co)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53128"/>
            <a:ext cx="5547207" cy="493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4507992"/>
            <a:ext cx="529117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B9399"/>
                </a:solidFill>
                <a:latin typeface="Consolas"/>
              </a:rPr>
              <a:t>Cantidad objetivo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4672584"/>
            <a:ext cx="52911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161C"/>
                </a:solidFill>
                <a:latin typeface="Consolas"/>
              </a:rPr>
              <a:t>Q* = Pronóstico + z · 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0056"/>
            <a:ext cx="5547207" cy="493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5074920"/>
            <a:ext cx="529117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B9399"/>
                </a:solidFill>
                <a:latin typeface="Consolas"/>
              </a:rPr>
              <a:t>Orden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5239512"/>
            <a:ext cx="52911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161C"/>
                </a:solidFill>
                <a:latin typeface="Consolas"/>
              </a:rPr>
              <a:t>Orden = max(0, ceil(Q* − Stock actual))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632703"/>
            <a:ext cx="5547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>
                <a:solidFill>
                  <a:srgbClr val="8B9399"/>
                </a:solidFill>
                <a:latin typeface="Arial"/>
              </a:rPr>
              <a:t>Cu = margen unitario (costo de faltante) · Co = costo unitario + almacenamiento (costo de exceso) · z = percentil de la normal estándar para ese ratio crítico.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7287" y="3886200"/>
            <a:ext cx="5547207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3591" y="4014215"/>
            <a:ext cx="52545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Ejemplo real — Buñuelo, STORE_16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333591" y="4343400"/>
          <a:ext cx="536432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727"/>
                <a:gridCol w="1371600"/>
              </a:tblGrid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8B9399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8B9399"/>
                          </a:solidFill>
                          <a:latin typeface="Consolas"/>
                        </a:rPr>
                        <a:t>valor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Arial"/>
                        </a:rPr>
                        <a:t>Pronóstico ajustado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Consolas"/>
                        </a:rPr>
                        <a:t>273.2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Arial"/>
                        </a:rPr>
                        <a:t>σ del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Consolas"/>
                        </a:rPr>
                        <a:t>16.8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Arial"/>
                        </a:rPr>
                        <a:t>Margen (Cu) / Costo exceso (Co)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Consolas"/>
                        </a:rPr>
                        <a:t>$1,700 / $820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Arial"/>
                        </a:rPr>
                        <a:t>Ratio crítico (CR)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Consolas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Arial"/>
                        </a:rPr>
                        <a:t>Stock objetivo (Q*)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Consolas"/>
                        </a:rPr>
                        <a:t>280.7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Arial"/>
                        </a:rPr>
                        <a:t>Stock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Consolas"/>
                        </a:rPr>
                        <a:t>25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6B4F10"/>
                          </a:solidFill>
                          <a:latin typeface="Arial"/>
                        </a:rPr>
                        <a:t>Orden sugerida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6B4F10"/>
                          </a:solidFill>
                          <a:latin typeface="Consolas"/>
                        </a:rPr>
                        <a:t>256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4 · Decisión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07 / 11 · ~1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Tres políticas, un mismo trade-off entre inventario, costo y riesgo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3667658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728216"/>
            <a:ext cx="11430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8B9399"/>
                </a:solidFill>
                <a:latin typeface="Consolas"/>
              </a:rPr>
              <a:t>PRONÓSTICO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020824"/>
            <a:ext cx="33750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Pedir el pronóstico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331720"/>
            <a:ext cx="33750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Solo la demanda esperada. Ignora la variabilidad del error y la economía de cada SKU.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2018" y="1600200"/>
            <a:ext cx="3667658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8322" y="1728216"/>
            <a:ext cx="1225295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A06E18"/>
                </a:solidFill>
                <a:latin typeface="Consolas"/>
              </a:rPr>
              <a:t>RECOMENDADA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8322" y="2020824"/>
            <a:ext cx="33750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Política económica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8322" y="2331720"/>
            <a:ext cx="33750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Newsvendor: ajusta el pedido según margen, costo de exceso e incertidumbre por producto.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600200"/>
            <a:ext cx="3667658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3140" y="1728216"/>
            <a:ext cx="566928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9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8B9399"/>
                </a:solidFill>
                <a:latin typeface="Consolas"/>
              </a:rPr>
              <a:t>P80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3140" y="2020824"/>
            <a:ext cx="337505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2161C"/>
                </a:solidFill>
                <a:latin typeface="Arial"/>
              </a:rPr>
              <a:t>Cubrir percentil 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3140" y="2331720"/>
            <a:ext cx="337505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Protección uniforme del 80% de la demanda para todos los SKU, sin distinguir economía.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63240"/>
            <a:ext cx="5547207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23298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4C5563"/>
                </a:solidFill>
                <a:latin typeface="Arial"/>
              </a:rPr>
              <a:t>Menos inventario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96512"/>
            <a:ext cx="23298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→ menor costo de almacenamiento</a:t>
            </a:r>
          </a:p>
          <a:p>
            <a:pPr algn="ctr">
              <a:lnSpc>
                <a:spcPct val="13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→ mayor riesgo de quiebre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0803" y="3931920"/>
            <a:ext cx="44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8B9399"/>
                </a:solidFill>
                <a:latin typeface="Arial"/>
              </a:rPr>
              <a:t>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8164" y="3794760"/>
            <a:ext cx="23298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4F10"/>
                </a:solidFill>
                <a:latin typeface="Arial"/>
              </a:rPr>
              <a:t>Más inventario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8164" y="4096512"/>
            <a:ext cx="23298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→ mayor costo de exceso</a:t>
            </a:r>
          </a:p>
          <a:p>
            <a:pPr algn="ctr">
              <a:lnSpc>
                <a:spcPct val="13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→ mayor nivel de servicio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3063240"/>
            <a:ext cx="5547207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3591" y="3200400"/>
            <a:ext cx="52545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2161C"/>
                </a:solidFill>
                <a:latin typeface="Arial"/>
              </a:rPr>
              <a:t>Pedido promedio por política (unidades / SKU-semana)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333591" y="3520440"/>
          <a:ext cx="5254599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333591" y="5029200"/>
            <a:ext cx="5254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La política económica pide solo </a:t>
            </a:r>
            <a:r>
              <a:rPr sz="900" b="1">
                <a:solidFill>
                  <a:srgbClr val="12161C"/>
                </a:solidFill>
                <a:latin typeface="Arial"/>
              </a:rPr>
              <a:t>~5 unidades más</a:t>
            </a:r>
            <a:r>
              <a:rPr sz="900" b="0">
                <a:solidFill>
                  <a:srgbClr val="4C5563"/>
                </a:solidFill>
                <a:latin typeface="Arial"/>
              </a:rPr>
              <a:t> que pedir solo el pronóstico — el ajuste es fino, no un sobre-pedido masivo.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5 · Impacto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54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08 / 11 · ~1.5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2161C"/>
                </a:solidFill>
                <a:latin typeface="Arial"/>
              </a:rPr>
              <a:t>La política económica, aplicada sobre el modelo seleccionado, reduce el costo y el riesgo de quiebre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731520"/>
            <a:ext cx="23317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A06E18"/>
                </a:solidFill>
                <a:latin typeface="Consolas"/>
              </a:rPr>
              <a:t>SIMULACIÓN CON DATOS HISTÓRICOS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813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C5563"/>
                </a:solidFill>
                <a:latin typeface="Arial"/>
              </a:rPr>
              <a:t>Las tres políticas de esta página usan el mismo pronóstico: el del </a:t>
            </a:r>
            <a:r>
              <a:rPr sz="1000" b="1">
                <a:solidFill>
                  <a:srgbClr val="12161C"/>
                </a:solidFill>
                <a:latin typeface="Arial"/>
              </a:rPr>
              <a:t>modelo seleccionado (diario agregado)</a:t>
            </a:r>
            <a:r>
              <a:rPr sz="1000" b="0">
                <a:solidFill>
                  <a:srgbClr val="4C5563"/>
                </a:solidFill>
                <a:latin typeface="Arial"/>
              </a:rPr>
              <a:t>. Solo cambia la regla para decidir cuánto pedir.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2716453" cy="914400"/>
          </a:xfrm>
          <a:prstGeom prst="roundRect">
            <a:avLst>
              <a:gd name="adj" fmla="val 7000"/>
            </a:avLst>
          </a:prstGeom>
          <a:solidFill>
            <a:srgbClr val="F1E2BD"/>
          </a:solidFill>
          <a:ln w="1651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938528"/>
            <a:ext cx="24238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6B4F10"/>
                </a:solidFill>
                <a:latin typeface="Arial"/>
              </a:rPr>
              <a:t>AHORRO ESTIMADO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157984"/>
            <a:ext cx="24238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6B4F10"/>
                </a:solidFill>
                <a:latin typeface="Consolas"/>
              </a:rPr>
              <a:t>$1.03M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615184"/>
            <a:ext cx="2423845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−5.4% vs. pedir solo el pronóstico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813" y="1828800"/>
            <a:ext cx="271645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7117" y="1938528"/>
            <a:ext cx="24238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B9399"/>
                </a:solidFill>
                <a:latin typeface="Arial"/>
              </a:rPr>
              <a:t>NIVEL DE SERVICIO (FILL RATE)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7117" y="2157984"/>
            <a:ext cx="24238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161C"/>
                </a:solidFill>
                <a:latin typeface="Consolas"/>
              </a:rPr>
              <a:t>96.2%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7117" y="2615184"/>
            <a:ext cx="2423845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vs. 94.0% con solo pronóstico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1828800"/>
            <a:ext cx="271645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0731" y="1938528"/>
            <a:ext cx="24238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B9399"/>
                </a:solidFill>
                <a:latin typeface="Arial"/>
              </a:rPr>
              <a:t>FALTANTES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0731" y="2157984"/>
            <a:ext cx="24238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161C"/>
                </a:solidFill>
                <a:latin typeface="Consolas"/>
              </a:rPr>
              <a:t>−36.9%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0731" y="2615184"/>
            <a:ext cx="2423845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3,360 vs. 5,330 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8041" y="1828800"/>
            <a:ext cx="271645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4345" y="1938528"/>
            <a:ext cx="24238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B9399"/>
                </a:solidFill>
                <a:latin typeface="Arial"/>
              </a:rPr>
              <a:t>EXCEDENTE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4345" y="2157984"/>
            <a:ext cx="24238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161C"/>
                </a:solidFill>
                <a:latin typeface="Consolas"/>
              </a:rPr>
              <a:t>+52.5%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345" y="2615184"/>
            <a:ext cx="2423845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Arial"/>
              </a:rPr>
              <a:t>8,131 vs. 5,330 u — el costo del menor riesgo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80360"/>
            <a:ext cx="2716453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10813" y="2880360"/>
            <a:ext cx="2716453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4427" y="2880360"/>
            <a:ext cx="2716453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18041" y="2880360"/>
            <a:ext cx="2716453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17520"/>
            <a:ext cx="249699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Costo total (pesos)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66928" y="3291839"/>
          <a:ext cx="2496997" cy="1280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420541" y="3017520"/>
            <a:ext cx="249699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Nivel de servicio (fill rate)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3420541" y="3291839"/>
          <a:ext cx="2496997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274155" y="3017520"/>
            <a:ext cx="249699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Faltante (unidades)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274155" y="3291839"/>
          <a:ext cx="2496997" cy="1280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127769" y="3017520"/>
            <a:ext cx="249699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2161C"/>
                </a:solidFill>
                <a:latin typeface="Arial"/>
              </a:rPr>
              <a:t>Costo vs. nivel de servicio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9127769" y="3291839"/>
          <a:ext cx="2496997" cy="1280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457200" y="4892040"/>
            <a:ext cx="11277295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5001768"/>
            <a:ext cx="10984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2161C"/>
                </a:solidFill>
                <a:latin typeface="Arial"/>
              </a:rPr>
              <a:t>Beneficio económico de haber elegido el modelo diario agregado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5230368"/>
            <a:ext cx="10984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>
                <a:solidFill>
                  <a:srgbClr val="4C5563"/>
                </a:solidFill>
                <a:latin typeface="Arial"/>
              </a:rPr>
              <a:t>Con la </a:t>
            </a:r>
            <a:r>
              <a:rPr sz="930" b="1">
                <a:solidFill>
                  <a:srgbClr val="12161C"/>
                </a:solidFill>
                <a:latin typeface="Arial"/>
              </a:rPr>
              <a:t>misma política económica</a:t>
            </a:r>
            <a:r>
              <a:rPr sz="930" b="0">
                <a:solidFill>
                  <a:srgbClr val="4C5563"/>
                </a:solidFill>
                <a:latin typeface="Arial"/>
              </a:rPr>
              <a:t>, el costo simulado cambia solo por el modelo de pronóstico usado: estacional simple $19.85M → semanal directo $18.50M → </a:t>
            </a:r>
            <a:r>
              <a:rPr sz="930" b="1">
                <a:solidFill>
                  <a:srgbClr val="12161C"/>
                </a:solidFill>
                <a:latin typeface="Arial"/>
              </a:rPr>
              <a:t>diario agregado $18.15M (seleccionado)</a:t>
            </a:r>
            <a:r>
              <a:rPr sz="930" b="0">
                <a:solidFill>
                  <a:srgbClr val="4C5563"/>
                </a:solidFill>
                <a:latin typeface="Arial"/>
              </a:rPr>
              <a:t>. Cambiar del estacional simple al diario agregado ahorra </a:t>
            </a:r>
            <a:r>
              <a:rPr sz="930" b="1">
                <a:solidFill>
                  <a:srgbClr val="12161C"/>
                </a:solidFill>
                <a:latin typeface="Arial"/>
              </a:rPr>
              <a:t>$1.70M adicionales (8.6%)</a:t>
            </a:r>
            <a:r>
              <a:rPr sz="930" b="0">
                <a:solidFill>
                  <a:srgbClr val="4C5563"/>
                </a:solidFill>
                <a:latin typeface="Arial"/>
              </a:rPr>
              <a:t>, sin tocar la política de pedido.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8B9399"/>
                </a:solidFill>
                <a:latin typeface="Arial"/>
              </a:rPr>
              <a:t>Simulación con datos ya observados: para cada semana del histórico, compara qué habría pasado con cada política de pedido y cada modelo. No es un ahorro ya contabilizado en la operación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6 · Aplicación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4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8B9399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09 / 11 · ~1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La solución no termina en el modelo — termina en una decisión que el negocio puede tomar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11277295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1447" y="1737360"/>
            <a:ext cx="18288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 b="1">
                <a:solidFill>
                  <a:srgbClr val="A06E18"/>
                </a:solidFill>
                <a:latin typeface="Consolas"/>
              </a:rPr>
              <a:t>ABRIR LA 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84831"/>
            <a:ext cx="112772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6B4F10"/>
                </a:solidFill>
                <a:latin typeface="Consolas"/>
                <a:hlinkClick r:id="rId2"/>
              </a:rPr>
              <a:t>http://localhost:8501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B9399"/>
                </a:solidFill>
                <a:latin typeface="Consolas"/>
              </a:rPr>
              <a:t>Se ejecuta localmente: streamlit run app.py  desde la raíz del proyecto.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161C"/>
                </a:solidFill>
                <a:latin typeface="Arial"/>
              </a:rPr>
              <a:t>Cómo usarla — reglas de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12772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CA30C"/>
                </a:solidFill>
                <a:latin typeface="Arial"/>
              </a:rPr>
              <a:t>✓  </a:t>
            </a:r>
            <a:r>
              <a:rPr sz="1200" b="0">
                <a:solidFill>
                  <a:srgbClr val="4C5563"/>
                </a:solidFill>
                <a:latin typeface="Arial"/>
              </a:rPr>
              <a:t>Filtra por tienda y producto antes de mirar cualquier número.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CA30C"/>
                </a:solidFill>
                <a:latin typeface="Arial"/>
              </a:rPr>
              <a:t>✓  </a:t>
            </a:r>
            <a:r>
              <a:rPr sz="1200" b="0">
                <a:solidFill>
                  <a:srgbClr val="4C5563"/>
                </a:solidFill>
                <a:latin typeface="Arial"/>
              </a:rPr>
              <a:t>No apruebes un pedido sin abrir su explicación.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CA30C"/>
                </a:solidFill>
                <a:latin typeface="Arial"/>
              </a:rPr>
              <a:t>✓  </a:t>
            </a:r>
            <a:r>
              <a:rPr sz="1200" b="0">
                <a:solidFill>
                  <a:srgbClr val="4C5563"/>
                </a:solidFill>
                <a:latin typeface="Arial"/>
              </a:rPr>
              <a:t>Compara la política económica contra pedir solo el pronóstico antes de decidir.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CA30C"/>
                </a:solidFill>
                <a:latin typeface="Arial"/>
              </a:rPr>
              <a:t>✓  </a:t>
            </a:r>
            <a:r>
              <a:rPr sz="1200" b="0">
                <a:solidFill>
                  <a:srgbClr val="4C5563"/>
                </a:solidFill>
                <a:latin typeface="Arial"/>
              </a:rPr>
              <a:t>Regenera los resultados solo cuando haya ventas o inventario nuevos — no en cada consulta.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C5563"/>
                </a:solidFill>
                <a:latin typeface="Consolas"/>
              </a:rPr>
              <a:t>Datos  →  Modelo  →  Optimización  →  Aplicación  →  Decisión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7 · 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10 / 11 · ~0.75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Recomendación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6309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0CA30C"/>
                </a:solidFill>
                <a:latin typeface="Arial"/>
              </a:rPr>
              <a:t>✓  </a:t>
            </a:r>
            <a:r>
              <a:rPr sz="1250" b="0">
                <a:solidFill>
                  <a:srgbClr val="4C5563"/>
                </a:solidFill>
                <a:latin typeface="Arial"/>
              </a:rPr>
              <a:t>Utilizar el </a:t>
            </a:r>
            <a:r>
              <a:rPr sz="1250" b="1">
                <a:solidFill>
                  <a:srgbClr val="12161C"/>
                </a:solidFill>
                <a:latin typeface="Arial"/>
              </a:rPr>
              <a:t>modelo diario agregado</a:t>
            </a:r>
            <a:r>
              <a:rPr sz="1250" b="0">
                <a:solidFill>
                  <a:srgbClr val="4C5563"/>
                </a:solidFill>
                <a:latin typeface="Arial"/>
              </a:rPr>
              <a:t> como pronóstico: mejor RMSE, MAE y WAPE, y </a:t>
            </a:r>
            <a:r>
              <a:rPr sz="1250" b="1">
                <a:solidFill>
                  <a:srgbClr val="12161C"/>
                </a:solidFill>
                <a:latin typeface="Arial"/>
              </a:rPr>
              <a:t>$1.70M (8.6%)</a:t>
            </a:r>
            <a:r>
              <a:rPr sz="1250" b="0">
                <a:solidFill>
                  <a:srgbClr val="4C5563"/>
                </a:solidFill>
                <a:latin typeface="Arial"/>
              </a:rPr>
              <a:t> de ahorro adicional frente al método de referencia, con la misma política de pedido.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0CA30C"/>
                </a:solidFill>
                <a:latin typeface="Arial"/>
              </a:rPr>
              <a:t>✓  </a:t>
            </a:r>
            <a:r>
              <a:rPr sz="1250" b="0">
                <a:solidFill>
                  <a:srgbClr val="4C5563"/>
                </a:solidFill>
                <a:latin typeface="Arial"/>
              </a:rPr>
              <a:t>Utilizar la </a:t>
            </a:r>
            <a:r>
              <a:rPr sz="1250" b="1">
                <a:solidFill>
                  <a:srgbClr val="12161C"/>
                </a:solidFill>
                <a:latin typeface="Arial"/>
              </a:rPr>
              <a:t>política económica</a:t>
            </a:r>
            <a:r>
              <a:rPr sz="1250" b="0">
                <a:solidFill>
                  <a:srgbClr val="4C5563"/>
                </a:solidFill>
                <a:latin typeface="Arial"/>
              </a:rPr>
              <a:t> (newsvendor) para transformar el pronóstico en decisiones de inventario.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0CA30C"/>
                </a:solidFill>
                <a:latin typeface="Arial"/>
              </a:rPr>
              <a:t>✓  </a:t>
            </a:r>
            <a:r>
              <a:rPr sz="1250" b="0">
                <a:solidFill>
                  <a:srgbClr val="4C5563"/>
                </a:solidFill>
                <a:latin typeface="Arial"/>
              </a:rPr>
              <a:t>Usar la </a:t>
            </a:r>
            <a:r>
              <a:rPr sz="1250" b="1">
                <a:solidFill>
                  <a:srgbClr val="12161C"/>
                </a:solidFill>
                <a:latin typeface="Arial"/>
              </a:rPr>
              <a:t>incertidumbre por producto</a:t>
            </a:r>
            <a:r>
              <a:rPr sz="1250" b="0">
                <a:solidFill>
                  <a:srgbClr val="4C5563"/>
                </a:solidFill>
                <a:latin typeface="Arial"/>
              </a:rPr>
              <a:t> (σ) para calibrar el nivel de protección de cada SKU.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0CA30C"/>
                </a:solidFill>
                <a:latin typeface="Arial"/>
              </a:rPr>
              <a:t>✓  </a:t>
            </a:r>
            <a:r>
              <a:rPr sz="1250" b="0">
                <a:solidFill>
                  <a:srgbClr val="4C5563"/>
                </a:solidFill>
                <a:latin typeface="Arial"/>
              </a:rPr>
              <a:t>Priorizar tiendas y productos donde el </a:t>
            </a:r>
            <a:r>
              <a:rPr sz="1250" b="1">
                <a:solidFill>
                  <a:srgbClr val="12161C"/>
                </a:solidFill>
                <a:latin typeface="Arial"/>
              </a:rPr>
              <a:t>impacto económico y el riesgo de quiebre</a:t>
            </a:r>
            <a:r>
              <a:rPr sz="1250" b="0">
                <a:solidFill>
                  <a:srgbClr val="4C5563"/>
                </a:solidFill>
                <a:latin typeface="Arial"/>
              </a:rPr>
              <a:t> sean mayores.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0CA30C"/>
                </a:solidFill>
                <a:latin typeface="Arial"/>
              </a:rPr>
              <a:t>✓  </a:t>
            </a:r>
            <a:r>
              <a:rPr sz="1250" b="0">
                <a:solidFill>
                  <a:srgbClr val="4C5563"/>
                </a:solidFill>
                <a:latin typeface="Arial"/>
              </a:rPr>
              <a:t>Usar la </a:t>
            </a:r>
            <a:r>
              <a:rPr sz="1250" b="1">
                <a:solidFill>
                  <a:srgbClr val="12161C"/>
                </a:solidFill>
                <a:latin typeface="Arial"/>
              </a:rPr>
              <a:t>aplicación</a:t>
            </a:r>
            <a:r>
              <a:rPr sz="1250" b="0">
                <a:solidFill>
                  <a:srgbClr val="4C5563"/>
                </a:solidFill>
                <a:latin typeface="Arial"/>
              </a:rPr>
              <a:t> como capa de visualización y toma de decisiones.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691640"/>
            <a:ext cx="2301087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1801368"/>
            <a:ext cx="20084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B9399"/>
                </a:solidFill>
                <a:latin typeface="Arial"/>
              </a:rPr>
              <a:t>MEJOR DESEMPEÑO PREDICTIVO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2020824"/>
            <a:ext cx="200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161C"/>
                </a:solidFill>
                <a:latin typeface="Consolas"/>
              </a:rPr>
              <a:t>−9.1%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2478024"/>
            <a:ext cx="2008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WAPE vs. método de referencia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3407" y="1691640"/>
            <a:ext cx="2301087" cy="1234440"/>
          </a:xfrm>
          <a:prstGeom prst="roundRect">
            <a:avLst>
              <a:gd name="adj" fmla="val 7000"/>
            </a:avLst>
          </a:prstGeom>
          <a:solidFill>
            <a:srgbClr val="F1E2BD"/>
          </a:solidFill>
          <a:ln w="16510">
            <a:solidFill>
              <a:srgbClr val="A06E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9711" y="1801368"/>
            <a:ext cx="20084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6B4F10"/>
                </a:solidFill>
                <a:latin typeface="Arial"/>
              </a:rPr>
              <a:t>AHORRO ESTIMADO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9711" y="2020824"/>
            <a:ext cx="200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6B4F10"/>
                </a:solidFill>
                <a:latin typeface="Consolas"/>
              </a:rPr>
              <a:t>$1.03M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9711" y="2478024"/>
            <a:ext cx="2008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−5.4% de costo (política)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3063240"/>
            <a:ext cx="2301087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1464" y="3172968"/>
            <a:ext cx="20084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B9399"/>
                </a:solidFill>
                <a:latin typeface="Arial"/>
              </a:rPr>
              <a:t>NIVEL DE SERVICIO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3392424"/>
            <a:ext cx="200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161C"/>
                </a:solidFill>
                <a:latin typeface="Consolas"/>
              </a:rPr>
              <a:t>96.2%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3849624"/>
            <a:ext cx="2008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política económica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3407" y="3063240"/>
            <a:ext cx="2301087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9711" y="3172968"/>
            <a:ext cx="20084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8B9399"/>
                </a:solidFill>
                <a:latin typeface="Arial"/>
              </a:rPr>
              <a:t>REDUCCIÓN DE FALTANTES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9711" y="3392424"/>
            <a:ext cx="200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2161C"/>
                </a:solidFill>
                <a:latin typeface="Consolas"/>
              </a:rPr>
              <a:t>−36.9%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9711" y="3849624"/>
            <a:ext cx="2008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563"/>
                </a:solidFill>
                <a:latin typeface="Arial"/>
              </a:rPr>
              <a:t>vs. pedir solo el pronóstico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"/>
            <a:ext cx="31089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3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4C5563"/>
                </a:solidFill>
                <a:latin typeface="Consola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926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A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750" b="1">
                <a:solidFill>
                  <a:srgbClr val="FFF7E8"/>
                </a:solidFill>
                <a:latin typeface="Consolas"/>
              </a:rPr>
              <a:t>7 · 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2926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B9399"/>
                </a:solidFill>
                <a:latin typeface="Consolas"/>
              </a:rPr>
              <a:t>11 / 11 · ~0.75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61C"/>
                </a:solidFill>
                <a:latin typeface="Arial"/>
              </a:rPr>
              <a:t>Conclusiones y próximos pasos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161C"/>
                </a:solidFill>
                <a:latin typeface="Arial"/>
              </a:rPr>
              <a:t>Conclusiones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6309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250">
                <a:solidFill>
                  <a:srgbClr val="A06E18"/>
                </a:solidFill>
                <a:latin typeface="Arial"/>
              </a:rPr>
              <a:t>1.  </a:t>
            </a:r>
            <a:r>
              <a:rPr sz="1250" b="0">
                <a:solidFill>
                  <a:srgbClr val="4C5563"/>
                </a:solidFill>
                <a:latin typeface="Arial"/>
              </a:rPr>
              <a:t>La demanda presenta </a:t>
            </a:r>
            <a:r>
              <a:rPr sz="1250" b="1">
                <a:solidFill>
                  <a:srgbClr val="12161C"/>
                </a:solidFill>
                <a:latin typeface="Arial"/>
              </a:rPr>
              <a:t>patrones temporales fuertes</a:t>
            </a:r>
            <a:r>
              <a:rPr sz="1250" b="0">
                <a:solidFill>
                  <a:srgbClr val="4C5563"/>
                </a:solidFill>
                <a:latin typeface="Arial"/>
              </a:rPr>
              <a:t> y diferencias importantes entre tiendas y productos (estacionalidad semanal, efecto de tamaño de tienda).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250">
                <a:solidFill>
                  <a:srgbClr val="A06E18"/>
                </a:solidFill>
                <a:latin typeface="Arial"/>
              </a:rPr>
              <a:t>2.  </a:t>
            </a:r>
            <a:r>
              <a:rPr sz="1250" b="0">
                <a:solidFill>
                  <a:srgbClr val="4C5563"/>
                </a:solidFill>
                <a:latin typeface="Arial"/>
              </a:rPr>
              <a:t>El pronóstico mejora frente al método de referencia, y el </a:t>
            </a:r>
            <a:r>
              <a:rPr sz="1250" b="1">
                <a:solidFill>
                  <a:srgbClr val="12161C"/>
                </a:solidFill>
                <a:latin typeface="Arial"/>
              </a:rPr>
              <a:t>modelo diario agregado es el seleccionado</a:t>
            </a:r>
            <a:r>
              <a:rPr sz="1250" b="0">
                <a:solidFill>
                  <a:srgbClr val="4C5563"/>
                </a:solidFill>
                <a:latin typeface="Arial"/>
              </a:rPr>
              <a:t> por desempeño medido, no por conveniencia narrativa.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250">
                <a:solidFill>
                  <a:srgbClr val="A06E18"/>
                </a:solidFill>
                <a:latin typeface="Arial"/>
              </a:rPr>
              <a:t>3.  </a:t>
            </a:r>
            <a:r>
              <a:rPr sz="1250" b="0">
                <a:solidFill>
                  <a:srgbClr val="4C5563"/>
                </a:solidFill>
                <a:latin typeface="Arial"/>
              </a:rPr>
              <a:t>Incorporar incertidumbre y economía convierte el pronóstico en una </a:t>
            </a:r>
            <a:r>
              <a:rPr sz="1250" b="1">
                <a:solidFill>
                  <a:srgbClr val="12161C"/>
                </a:solidFill>
                <a:latin typeface="Arial"/>
              </a:rPr>
              <a:t>decisión de abastecimiento con impacto medible</a:t>
            </a:r>
            <a:r>
              <a:rPr sz="1250" b="0">
                <a:solidFill>
                  <a:srgbClr val="4C5563"/>
                </a:solidFill>
                <a:latin typeface="Arial"/>
              </a:rPr>
              <a:t> ($1.03M de ahorro estimado por política, +$1.70M por elegir el modelo diario agregado, −36.9% de faltantes).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91640"/>
            <a:ext cx="4739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2161C"/>
                </a:solidFill>
                <a:latin typeface="Arial"/>
              </a:rPr>
              <a:t>Próximos pasos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011680"/>
            <a:ext cx="47393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A06E18"/>
                </a:solidFill>
                <a:latin typeface="Arial"/>
              </a:rPr>
              <a:t>—  </a:t>
            </a:r>
            <a:r>
              <a:rPr sz="1150" b="0">
                <a:solidFill>
                  <a:srgbClr val="4C5563"/>
                </a:solidFill>
                <a:latin typeface="Arial"/>
              </a:rPr>
              <a:t>Incorporar históricos reales de inventario y quiebres.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A06E18"/>
                </a:solidFill>
                <a:latin typeface="Arial"/>
              </a:rPr>
              <a:t>—  </a:t>
            </a:r>
            <a:r>
              <a:rPr sz="1150" b="0">
                <a:solidFill>
                  <a:srgbClr val="4C5563"/>
                </a:solidFill>
                <a:latin typeface="Arial"/>
              </a:rPr>
              <a:t>Incorporar lead times, frecuencia de reposición y stock en tránsito.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A06E18"/>
                </a:solidFill>
                <a:latin typeface="Arial"/>
              </a:rPr>
              <a:t>—  </a:t>
            </a:r>
            <a:r>
              <a:rPr sz="1150" b="0">
                <a:solidFill>
                  <a:srgbClr val="4C5563"/>
                </a:solidFill>
                <a:latin typeface="Arial"/>
              </a:rPr>
              <a:t>Recalibrar periódicamente la incertidumbre y los modelos.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A06E18"/>
                </a:solidFill>
                <a:latin typeface="Arial"/>
              </a:rPr>
              <a:t>—  </a:t>
            </a:r>
            <a:r>
              <a:rPr sz="1150" b="0">
                <a:solidFill>
                  <a:srgbClr val="4C5563"/>
                </a:solidFill>
                <a:latin typeface="Arial"/>
              </a:rPr>
              <a:t>Medir el impacto real de la política en producción.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5563"/>
                </a:solidFill>
                <a:latin typeface="Consolas"/>
              </a:rPr>
              <a:t>Predecir la demanda  →  cuantificar el riesgo  →  optimizar el inventario  →  generar una recomendación  →  visualizarla en una herramienta para el negocio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